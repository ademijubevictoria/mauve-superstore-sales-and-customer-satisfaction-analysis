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D7D31"/>
    <a:srgbClr val="EA80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supermarket_sales_202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supermarket_sales_202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supermarket_sales_202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supermarket_sales_2025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ocuments\supermarket_sales_2025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[supermarket_sales_2025.xlsx]PivotTable!PivotTable4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GB" sz="1200" b="1">
                <a:solidFill>
                  <a:sysClr val="windowText" lastClr="000000"/>
                </a:solidFill>
              </a:rPr>
              <a:t>Hourly Transaction Trend</a:t>
            </a:r>
            <a:r>
              <a:rPr lang="en-GB" sz="1200" b="1" baseline="0">
                <a:solidFill>
                  <a:sysClr val="windowText" lastClr="000000"/>
                </a:solidFill>
              </a:rPr>
              <a:t> by City</a:t>
            </a:r>
            <a:endParaRPr lang="en-GB" sz="1200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rgbClr val="6614C7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ED87ED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rgbClr val="4D4D4D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rgbClr val="6614C7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rgbClr val="ED87ED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4D4D4D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rgbClr val="6614C7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rgbClr val="ED87ED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rgbClr val="4D4D4D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PivotTable!$E$3:$E$4</c:f>
              <c:strCache>
                <c:ptCount val="1"/>
                <c:pt idx="0">
                  <c:v>Austin</c:v>
                </c:pt>
              </c:strCache>
            </c:strRef>
          </c:tx>
          <c:spPr>
            <a:ln w="28575" cap="rnd">
              <a:solidFill>
                <a:srgbClr val="6614C7"/>
              </a:solidFill>
              <a:round/>
            </a:ln>
            <a:effectLst/>
          </c:spPr>
          <c:marker>
            <c:symbol val="none"/>
          </c:marker>
          <c:cat>
            <c:strRef>
              <c:f>PivotTable!$D$5:$D$17</c:f>
              <c:strCache>
                <c:ptCount val="12"/>
                <c:pt idx="0">
                  <c:v>9</c:v>
                </c:pt>
                <c:pt idx="1">
                  <c:v>10</c:v>
                </c:pt>
                <c:pt idx="2">
                  <c:v>11</c:v>
                </c:pt>
                <c:pt idx="3">
                  <c:v>12</c:v>
                </c:pt>
                <c:pt idx="4">
                  <c:v>13</c:v>
                </c:pt>
                <c:pt idx="5">
                  <c:v>14</c:v>
                </c:pt>
                <c:pt idx="6">
                  <c:v>15</c:v>
                </c:pt>
                <c:pt idx="7">
                  <c:v>16</c:v>
                </c:pt>
                <c:pt idx="8">
                  <c:v>17</c:v>
                </c:pt>
                <c:pt idx="9">
                  <c:v>18</c:v>
                </c:pt>
                <c:pt idx="10">
                  <c:v>19</c:v>
                </c:pt>
                <c:pt idx="11">
                  <c:v>20</c:v>
                </c:pt>
              </c:strCache>
            </c:strRef>
          </c:cat>
          <c:val>
            <c:numRef>
              <c:f>PivotTable!$E$5:$E$17</c:f>
              <c:numCache>
                <c:formatCode>General</c:formatCode>
                <c:ptCount val="12"/>
                <c:pt idx="0">
                  <c:v>560</c:v>
                </c:pt>
                <c:pt idx="1">
                  <c:v>584</c:v>
                </c:pt>
                <c:pt idx="2">
                  <c:v>549</c:v>
                </c:pt>
                <c:pt idx="3">
                  <c:v>580</c:v>
                </c:pt>
                <c:pt idx="4">
                  <c:v>592</c:v>
                </c:pt>
                <c:pt idx="5">
                  <c:v>592</c:v>
                </c:pt>
                <c:pt idx="6">
                  <c:v>547</c:v>
                </c:pt>
                <c:pt idx="7">
                  <c:v>554</c:v>
                </c:pt>
                <c:pt idx="8">
                  <c:v>629</c:v>
                </c:pt>
                <c:pt idx="9">
                  <c:v>584</c:v>
                </c:pt>
                <c:pt idx="10">
                  <c:v>609</c:v>
                </c:pt>
                <c:pt idx="11">
                  <c:v>579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06-437C-9382-03BF2B787E4C}"/>
            </c:ext>
          </c:extLst>
        </c:ser>
        <c:ser>
          <c:idx val="1"/>
          <c:order val="1"/>
          <c:tx>
            <c:strRef>
              <c:f>PivotTable!$F$3:$F$4</c:f>
              <c:strCache>
                <c:ptCount val="1"/>
                <c:pt idx="0">
                  <c:v>Chicago</c:v>
                </c:pt>
              </c:strCache>
            </c:strRef>
          </c:tx>
          <c:spPr>
            <a:ln w="28575" cap="rnd">
              <a:solidFill>
                <a:srgbClr val="ED87ED"/>
              </a:solidFill>
              <a:round/>
            </a:ln>
            <a:effectLst/>
          </c:spPr>
          <c:marker>
            <c:symbol val="none"/>
          </c:marker>
          <c:cat>
            <c:strRef>
              <c:f>PivotTable!$D$5:$D$17</c:f>
              <c:strCache>
                <c:ptCount val="12"/>
                <c:pt idx="0">
                  <c:v>9</c:v>
                </c:pt>
                <c:pt idx="1">
                  <c:v>10</c:v>
                </c:pt>
                <c:pt idx="2">
                  <c:v>11</c:v>
                </c:pt>
                <c:pt idx="3">
                  <c:v>12</c:v>
                </c:pt>
                <c:pt idx="4">
                  <c:v>13</c:v>
                </c:pt>
                <c:pt idx="5">
                  <c:v>14</c:v>
                </c:pt>
                <c:pt idx="6">
                  <c:v>15</c:v>
                </c:pt>
                <c:pt idx="7">
                  <c:v>16</c:v>
                </c:pt>
                <c:pt idx="8">
                  <c:v>17</c:v>
                </c:pt>
                <c:pt idx="9">
                  <c:v>18</c:v>
                </c:pt>
                <c:pt idx="10">
                  <c:v>19</c:v>
                </c:pt>
                <c:pt idx="11">
                  <c:v>20</c:v>
                </c:pt>
              </c:strCache>
            </c:strRef>
          </c:cat>
          <c:val>
            <c:numRef>
              <c:f>PivotTable!$F$5:$F$17</c:f>
              <c:numCache>
                <c:formatCode>General</c:formatCode>
                <c:ptCount val="12"/>
                <c:pt idx="0">
                  <c:v>637</c:v>
                </c:pt>
                <c:pt idx="1">
                  <c:v>600</c:v>
                </c:pt>
                <c:pt idx="2">
                  <c:v>584</c:v>
                </c:pt>
                <c:pt idx="3">
                  <c:v>570</c:v>
                </c:pt>
                <c:pt idx="4">
                  <c:v>581</c:v>
                </c:pt>
                <c:pt idx="5">
                  <c:v>580</c:v>
                </c:pt>
                <c:pt idx="6">
                  <c:v>612</c:v>
                </c:pt>
                <c:pt idx="7">
                  <c:v>623</c:v>
                </c:pt>
                <c:pt idx="8">
                  <c:v>551</c:v>
                </c:pt>
                <c:pt idx="9">
                  <c:v>544</c:v>
                </c:pt>
                <c:pt idx="10">
                  <c:v>635</c:v>
                </c:pt>
                <c:pt idx="11">
                  <c:v>582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06-437C-9382-03BF2B787E4C}"/>
            </c:ext>
          </c:extLst>
        </c:ser>
        <c:ser>
          <c:idx val="2"/>
          <c:order val="2"/>
          <c:tx>
            <c:strRef>
              <c:f>PivotTable!$G$3:$G$4</c:f>
              <c:strCache>
                <c:ptCount val="1"/>
                <c:pt idx="0">
                  <c:v>New York</c:v>
                </c:pt>
              </c:strCache>
            </c:strRef>
          </c:tx>
          <c:spPr>
            <a:ln w="28575" cap="rnd">
              <a:solidFill>
                <a:srgbClr val="4D4D4D"/>
              </a:solidFill>
              <a:round/>
            </a:ln>
            <a:effectLst/>
          </c:spPr>
          <c:marker>
            <c:symbol val="none"/>
          </c:marker>
          <c:cat>
            <c:strRef>
              <c:f>PivotTable!$D$5:$D$17</c:f>
              <c:strCache>
                <c:ptCount val="12"/>
                <c:pt idx="0">
                  <c:v>9</c:v>
                </c:pt>
                <c:pt idx="1">
                  <c:v>10</c:v>
                </c:pt>
                <c:pt idx="2">
                  <c:v>11</c:v>
                </c:pt>
                <c:pt idx="3">
                  <c:v>12</c:v>
                </c:pt>
                <c:pt idx="4">
                  <c:v>13</c:v>
                </c:pt>
                <c:pt idx="5">
                  <c:v>14</c:v>
                </c:pt>
                <c:pt idx="6">
                  <c:v>15</c:v>
                </c:pt>
                <c:pt idx="7">
                  <c:v>16</c:v>
                </c:pt>
                <c:pt idx="8">
                  <c:v>17</c:v>
                </c:pt>
                <c:pt idx="9">
                  <c:v>18</c:v>
                </c:pt>
                <c:pt idx="10">
                  <c:v>19</c:v>
                </c:pt>
                <c:pt idx="11">
                  <c:v>20</c:v>
                </c:pt>
              </c:strCache>
            </c:strRef>
          </c:cat>
          <c:val>
            <c:numRef>
              <c:f>PivotTable!$G$5:$G$17</c:f>
              <c:numCache>
                <c:formatCode>General</c:formatCode>
                <c:ptCount val="12"/>
                <c:pt idx="0">
                  <c:v>569</c:v>
                </c:pt>
                <c:pt idx="1">
                  <c:v>552</c:v>
                </c:pt>
                <c:pt idx="2">
                  <c:v>578</c:v>
                </c:pt>
                <c:pt idx="3">
                  <c:v>551</c:v>
                </c:pt>
                <c:pt idx="4">
                  <c:v>575</c:v>
                </c:pt>
                <c:pt idx="5">
                  <c:v>591</c:v>
                </c:pt>
                <c:pt idx="6">
                  <c:v>549</c:v>
                </c:pt>
                <c:pt idx="7">
                  <c:v>576</c:v>
                </c:pt>
                <c:pt idx="8">
                  <c:v>614</c:v>
                </c:pt>
                <c:pt idx="9">
                  <c:v>575</c:v>
                </c:pt>
                <c:pt idx="10">
                  <c:v>588</c:v>
                </c:pt>
                <c:pt idx="11">
                  <c:v>624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A06-437C-9382-03BF2B787E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52036344"/>
        <c:axId val="1152035624"/>
      </c:lineChart>
      <c:catAx>
        <c:axId val="1152036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152035624"/>
        <c:crosses val="autoZero"/>
        <c:auto val="1"/>
        <c:lblAlgn val="ctr"/>
        <c:lblOffset val="100"/>
        <c:noMultiLvlLbl val="0"/>
      </c:catAx>
      <c:valAx>
        <c:axId val="1152035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152036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[supermarket_sales_2025.xlsx]PivotTable!PivotTable7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100" b="1" i="0" u="none" strike="noStrike" kern="1200" spc="0" baseline="0">
                <a:solidFill>
                  <a:sysClr val="windowText" lastClr="000000"/>
                </a:solidFill>
              </a:rPr>
              <a:t>Total Sales by Gender  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D0A4D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D0A4D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D0A4D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7382764711665484"/>
          <c:y val="0.13213549337260677"/>
          <c:w val="0.62617235288334516"/>
          <c:h val="0.7272157990560458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PivotTable!$S$3:$S$4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6614C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PivotTable!$R$5:$R$11</c:f>
              <c:strCache>
                <c:ptCount val="6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</c:strCache>
            </c:strRef>
          </c:cat>
          <c:val>
            <c:numRef>
              <c:f>PivotTable!$S$5:$S$11</c:f>
              <c:numCache>
                <c:formatCode>General</c:formatCode>
                <c:ptCount val="6"/>
                <c:pt idx="0">
                  <c:v>1730</c:v>
                </c:pt>
                <c:pt idx="1">
                  <c:v>1735</c:v>
                </c:pt>
                <c:pt idx="2">
                  <c:v>1721</c:v>
                </c:pt>
                <c:pt idx="3">
                  <c:v>1743</c:v>
                </c:pt>
                <c:pt idx="4">
                  <c:v>1809</c:v>
                </c:pt>
                <c:pt idx="5">
                  <c:v>1763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01-4F7A-83E4-A18DCF2D7CA0}"/>
            </c:ext>
          </c:extLst>
        </c:ser>
        <c:ser>
          <c:idx val="1"/>
          <c:order val="1"/>
          <c:tx>
            <c:strRef>
              <c:f>PivotTable!$T$3:$T$4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D0A4D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PivotTable!$R$5:$R$11</c:f>
              <c:strCache>
                <c:ptCount val="6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</c:strCache>
            </c:strRef>
          </c:cat>
          <c:val>
            <c:numRef>
              <c:f>PivotTable!$T$5:$T$11</c:f>
              <c:numCache>
                <c:formatCode>General</c:formatCode>
                <c:ptCount val="6"/>
                <c:pt idx="0">
                  <c:v>1816</c:v>
                </c:pt>
                <c:pt idx="1">
                  <c:v>1695</c:v>
                </c:pt>
                <c:pt idx="2">
                  <c:v>1789</c:v>
                </c:pt>
                <c:pt idx="3">
                  <c:v>1741</c:v>
                </c:pt>
                <c:pt idx="4">
                  <c:v>1718</c:v>
                </c:pt>
                <c:pt idx="5">
                  <c:v>1740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01-4F7A-83E4-A18DCF2D7CA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531643072"/>
        <c:axId val="531641632"/>
      </c:barChart>
      <c:catAx>
        <c:axId val="5316430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531641632"/>
        <c:crosses val="autoZero"/>
        <c:auto val="1"/>
        <c:lblAlgn val="ctr"/>
        <c:lblOffset val="100"/>
        <c:noMultiLvlLbl val="0"/>
      </c:catAx>
      <c:valAx>
        <c:axId val="5316416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31643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[supermarket_sales_2025.xlsx]PivotTable!PivotTable2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GB" sz="1200" b="1">
                <a:solidFill>
                  <a:sysClr val="windowText" lastClr="000000"/>
                </a:solidFill>
              </a:rPr>
              <a:t>Total Sales by </a:t>
            </a:r>
            <a:r>
              <a:rPr lang="en-GB" sz="1200" b="1" baseline="0">
                <a:solidFill>
                  <a:sysClr val="windowText" lastClr="000000"/>
                </a:solidFill>
              </a:rPr>
              <a:t>Product line</a:t>
            </a:r>
            <a:endParaRPr lang="en-GB" sz="1200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D0A4D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9B9B9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9B9B9B"/>
          </a:solidFill>
          <a:ln>
            <a:noFill/>
          </a:ln>
          <a:effectLst/>
        </c:spPr>
        <c:dLbl>
          <c:idx val="0"/>
          <c:layout>
            <c:manualLayout>
              <c:x val="-4.7567567567567567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9B9B9B"/>
          </a:solidFill>
          <a:ln>
            <a:noFill/>
          </a:ln>
          <a:effectLst/>
        </c:spPr>
        <c:dLbl>
          <c:idx val="0"/>
          <c:layout>
            <c:manualLayout>
              <c:x val="-6.0540540540540623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6614C7"/>
          </a:solidFill>
          <a:ln>
            <a:noFill/>
          </a:ln>
          <a:effectLst/>
        </c:spPr>
        <c:dLbl>
          <c:idx val="0"/>
          <c:layout>
            <c:manualLayout>
              <c:x val="-3.4285714285714287E-2"/>
              <c:y val="2.758621888079012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6614C7"/>
          </a:solidFill>
          <a:ln>
            <a:noFill/>
          </a:ln>
          <a:effectLst/>
        </c:spPr>
        <c:dLbl>
          <c:idx val="0"/>
          <c:layout>
            <c:manualLayout>
              <c:x val="-3.4285714285714287E-2"/>
              <c:y val="2.758621888079012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D0A4D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9B9B9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rgbClr val="9B9B9B"/>
          </a:solidFill>
          <a:ln>
            <a:noFill/>
          </a:ln>
          <a:effectLst/>
        </c:spPr>
        <c:dLbl>
          <c:idx val="0"/>
          <c:layout>
            <c:manualLayout>
              <c:x val="-6.0540540540540623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9B9B9B"/>
          </a:solidFill>
          <a:ln>
            <a:noFill/>
          </a:ln>
          <a:effectLst/>
        </c:spPr>
        <c:dLbl>
          <c:idx val="0"/>
          <c:layout>
            <c:manualLayout>
              <c:x val="-4.7567567567567567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rgbClr val="6614C7"/>
          </a:solidFill>
          <a:ln>
            <a:noFill/>
          </a:ln>
          <a:effectLst/>
        </c:spPr>
        <c:dLbl>
          <c:idx val="0"/>
          <c:layout>
            <c:manualLayout>
              <c:x val="-3.4285714285714287E-2"/>
              <c:y val="2.758621888079012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rgbClr val="D0A4D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rgbClr val="9B9B9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rgbClr val="9B9B9B"/>
          </a:solidFill>
          <a:ln>
            <a:noFill/>
          </a:ln>
          <a:effectLst/>
        </c:spPr>
        <c:dLbl>
          <c:idx val="0"/>
          <c:layout>
            <c:manualLayout>
              <c:x val="-6.0540540540540623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rgbClr val="9B9B9B"/>
          </a:solidFill>
          <a:ln>
            <a:noFill/>
          </a:ln>
          <a:effectLst/>
        </c:spPr>
        <c:dLbl>
          <c:idx val="0"/>
          <c:layout>
            <c:manualLayout>
              <c:x val="-4.7567567567567567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3032651463989601"/>
          <c:y val="0.11393108397766341"/>
          <c:w val="0.76967348536010405"/>
          <c:h val="0.7653785567759139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PivotTable!$S$30:$S$31</c:f>
              <c:strCache>
                <c:ptCount val="1"/>
                <c:pt idx="0">
                  <c:v>Austin</c:v>
                </c:pt>
              </c:strCache>
            </c:strRef>
          </c:tx>
          <c:spPr>
            <a:solidFill>
              <a:srgbClr val="6614C7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-3.4285714285714287E-2"/>
                  <c:y val="2.758621888079012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C2E-4F2A-8046-483B8E31C9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PivotTable!$R$32:$R$38</c:f>
              <c:strCache>
                <c:ptCount val="6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</c:strCache>
            </c:strRef>
          </c:cat>
          <c:val>
            <c:numRef>
              <c:f>PivotTable!$S$32:$S$38</c:f>
              <c:numCache>
                <c:formatCode>General</c:formatCode>
                <c:ptCount val="6"/>
                <c:pt idx="0">
                  <c:v>1190</c:v>
                </c:pt>
                <c:pt idx="1">
                  <c:v>1123</c:v>
                </c:pt>
                <c:pt idx="2">
                  <c:v>1103</c:v>
                </c:pt>
                <c:pt idx="3">
                  <c:v>1168</c:v>
                </c:pt>
                <c:pt idx="4">
                  <c:v>1179</c:v>
                </c:pt>
                <c:pt idx="5">
                  <c:v>1196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2E-4F2A-8046-483B8E31C9CA}"/>
            </c:ext>
          </c:extLst>
        </c:ser>
        <c:ser>
          <c:idx val="1"/>
          <c:order val="1"/>
          <c:tx>
            <c:strRef>
              <c:f>PivotTable!$T$30:$T$31</c:f>
              <c:strCache>
                <c:ptCount val="1"/>
                <c:pt idx="0">
                  <c:v>Chicago</c:v>
                </c:pt>
              </c:strCache>
            </c:strRef>
          </c:tx>
          <c:spPr>
            <a:solidFill>
              <a:srgbClr val="D0A4D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PivotTable!$R$32:$R$38</c:f>
              <c:strCache>
                <c:ptCount val="6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</c:strCache>
            </c:strRef>
          </c:cat>
          <c:val>
            <c:numRef>
              <c:f>PivotTable!$T$32:$T$38</c:f>
              <c:numCache>
                <c:formatCode>General</c:formatCode>
                <c:ptCount val="6"/>
                <c:pt idx="0">
                  <c:v>1139</c:v>
                </c:pt>
                <c:pt idx="1">
                  <c:v>1194</c:v>
                </c:pt>
                <c:pt idx="2">
                  <c:v>1182</c:v>
                </c:pt>
                <c:pt idx="3">
                  <c:v>1171</c:v>
                </c:pt>
                <c:pt idx="4">
                  <c:v>1233</c:v>
                </c:pt>
                <c:pt idx="5">
                  <c:v>1180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2E-4F2A-8046-483B8E31C9CA}"/>
            </c:ext>
          </c:extLst>
        </c:ser>
        <c:ser>
          <c:idx val="2"/>
          <c:order val="2"/>
          <c:tx>
            <c:strRef>
              <c:f>PivotTable!$U$30:$U$31</c:f>
              <c:strCache>
                <c:ptCount val="1"/>
                <c:pt idx="0">
                  <c:v>New York</c:v>
                </c:pt>
              </c:strCache>
            </c:strRef>
          </c:tx>
          <c:spPr>
            <a:solidFill>
              <a:srgbClr val="9B9B9B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-6.0540540540540623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C2E-4F2A-8046-483B8E31C9CA}"/>
                </c:ext>
              </c:extLst>
            </c:dLbl>
            <c:dLbl>
              <c:idx val="5"/>
              <c:layout>
                <c:manualLayout>
                  <c:x val="-4.7567567567567567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C2E-4F2A-8046-483B8E31C9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PivotTable!$R$32:$R$38</c:f>
              <c:strCache>
                <c:ptCount val="6"/>
                <c:pt idx="0">
                  <c:v>Electronic Accessories</c:v>
                </c:pt>
                <c:pt idx="1">
                  <c:v>Fashion Accessories</c:v>
                </c:pt>
                <c:pt idx="2">
                  <c:v>Food &amp; Beverages</c:v>
                </c:pt>
                <c:pt idx="3">
                  <c:v>Health &amp; Beauty</c:v>
                </c:pt>
                <c:pt idx="4">
                  <c:v>Home &amp; Lifestyle</c:v>
                </c:pt>
                <c:pt idx="5">
                  <c:v>Sports &amp; Travel</c:v>
                </c:pt>
              </c:strCache>
            </c:strRef>
          </c:cat>
          <c:val>
            <c:numRef>
              <c:f>PivotTable!$U$32:$U$38</c:f>
              <c:numCache>
                <c:formatCode>General</c:formatCode>
                <c:ptCount val="6"/>
                <c:pt idx="0">
                  <c:v>1217</c:v>
                </c:pt>
                <c:pt idx="1">
                  <c:v>1113</c:v>
                </c:pt>
                <c:pt idx="2">
                  <c:v>1225</c:v>
                </c:pt>
                <c:pt idx="3">
                  <c:v>1145</c:v>
                </c:pt>
                <c:pt idx="4">
                  <c:v>1115</c:v>
                </c:pt>
                <c:pt idx="5">
                  <c:v>1127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C2E-4F2A-8046-483B8E31C9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615589448"/>
        <c:axId val="615589808"/>
      </c:barChart>
      <c:catAx>
        <c:axId val="615589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615589808"/>
        <c:crosses val="autoZero"/>
        <c:auto val="1"/>
        <c:lblAlgn val="ctr"/>
        <c:lblOffset val="100"/>
        <c:noMultiLvlLbl val="0"/>
      </c:catAx>
      <c:valAx>
        <c:axId val="615589808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5589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[supermarket_sales_2025.xlsx]PivotTable!PivotTable1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GB" sz="1200" b="1">
                <a:solidFill>
                  <a:sysClr val="windowText" lastClr="000000"/>
                </a:solidFill>
              </a:rPr>
              <a:t>Sales Qty and Avg.</a:t>
            </a:r>
            <a:r>
              <a:rPr lang="en-GB" sz="1200" b="1" baseline="0">
                <a:solidFill>
                  <a:sysClr val="windowText" lastClr="000000"/>
                </a:solidFill>
              </a:rPr>
              <a:t> </a:t>
            </a:r>
            <a:r>
              <a:rPr lang="en-GB" sz="1200" b="1">
                <a:solidFill>
                  <a:sysClr val="windowText" lastClr="000000"/>
                </a:solidFill>
              </a:rPr>
              <a:t>Revenue by Customer Type</a:t>
            </a:r>
          </a:p>
        </c:rich>
      </c:tx>
      <c:layout>
        <c:manualLayout>
          <c:xMode val="edge"/>
          <c:yMode val="edge"/>
          <c:x val="0.15651982027240843"/>
          <c:y val="1.8131233595800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D0A4D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D0A4D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D0A4D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6439023194207734E-2"/>
          <c:y val="0.20807017543859649"/>
          <c:w val="0.92712195361158456"/>
          <c:h val="0.538783257355988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PivotTable!$L$18</c:f>
              <c:strCache>
                <c:ptCount val="1"/>
                <c:pt idx="0">
                  <c:v>Sum of Quantity</c:v>
                </c:pt>
              </c:strCache>
            </c:strRef>
          </c:tx>
          <c:spPr>
            <a:solidFill>
              <a:srgbClr val="6614C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PivotTable!$K$19:$K$21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PivotTable!$L$19:$L$21</c:f>
              <c:numCache>
                <c:formatCode>General</c:formatCode>
                <c:ptCount val="2"/>
                <c:pt idx="0">
                  <c:v>58154</c:v>
                </c:pt>
                <c:pt idx="1">
                  <c:v>57387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E7-4BD8-AF1F-C3D29FF0FB0C}"/>
            </c:ext>
          </c:extLst>
        </c:ser>
        <c:ser>
          <c:idx val="1"/>
          <c:order val="1"/>
          <c:tx>
            <c:strRef>
              <c:f>PivotTable!$M$18</c:f>
              <c:strCache>
                <c:ptCount val="1"/>
                <c:pt idx="0">
                  <c:v>Avg Revenue</c:v>
                </c:pt>
              </c:strCache>
            </c:strRef>
          </c:tx>
          <c:spPr>
            <a:solidFill>
              <a:srgbClr val="D0A4D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PivotTable!$K$19:$K$21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PivotTable!$M$19:$M$21</c:f>
              <c:numCache>
                <c:formatCode>0</c:formatCode>
                <c:ptCount val="2"/>
                <c:pt idx="0">
                  <c:v>30096.309179076343</c:v>
                </c:pt>
                <c:pt idx="1">
                  <c:v>30385.914076034649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E7-4BD8-AF1F-C3D29FF0FB0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85"/>
        <c:overlap val="-27"/>
        <c:axId val="465601824"/>
        <c:axId val="1063933816"/>
      </c:barChart>
      <c:catAx>
        <c:axId val="465601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063933816"/>
        <c:crosses val="autoZero"/>
        <c:auto val="1"/>
        <c:lblAlgn val="ctr"/>
        <c:lblOffset val="100"/>
        <c:noMultiLvlLbl val="0"/>
      </c:catAx>
      <c:valAx>
        <c:axId val="1063933816"/>
        <c:scaling>
          <c:orientation val="minMax"/>
          <c:max val="600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465601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801698157599167"/>
          <c:y val="0.87456057466500903"/>
          <c:w val="0.50396603684801666"/>
          <c:h val="0.118421881475341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[supermarket_sales_2025.xlsx]PivotTable!PivotTable15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200" b="1">
                <a:solidFill>
                  <a:sysClr val="windowText" lastClr="000000"/>
                </a:solidFill>
              </a:rPr>
              <a:t>Avg Rating by Amount Paid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6614C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2909498878085267E-2"/>
          <c:y val="0.16165958086175095"/>
          <c:w val="0.93418100224382949"/>
          <c:h val="0.646199692958658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PivotTable!$AH$36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6614C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PivotTable!$AG$37:$AG$42</c:f>
              <c:strCache>
                <c:ptCount val="5"/>
                <c:pt idx="0">
                  <c:v>Less than 20000</c:v>
                </c:pt>
                <c:pt idx="1">
                  <c:v>Less Than 40000</c:v>
                </c:pt>
                <c:pt idx="2">
                  <c:v>Less Than 60000</c:v>
                </c:pt>
                <c:pt idx="3">
                  <c:v>Less Than 80000</c:v>
                </c:pt>
                <c:pt idx="4">
                  <c:v>More Than or = 80000</c:v>
                </c:pt>
              </c:strCache>
            </c:strRef>
          </c:cat>
          <c:val>
            <c:numRef>
              <c:f>PivotTable!$AH$37:$AH$42</c:f>
              <c:numCache>
                <c:formatCode>0.00</c:formatCode>
                <c:ptCount val="5"/>
                <c:pt idx="0">
                  <c:v>6.9859044727315265</c:v>
                </c:pt>
                <c:pt idx="1">
                  <c:v>7.0038851641739654</c:v>
                </c:pt>
                <c:pt idx="2">
                  <c:v>6.9607284020327382</c:v>
                </c:pt>
                <c:pt idx="3">
                  <c:v>7.0869059165858257</c:v>
                </c:pt>
                <c:pt idx="4">
                  <c:v>6.9926181102362186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EF-4900-AE19-E1FCA1CF3F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66068648"/>
        <c:axId val="966069368"/>
      </c:barChart>
      <c:catAx>
        <c:axId val="966068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966069368"/>
        <c:crosses val="autoZero"/>
        <c:auto val="1"/>
        <c:lblAlgn val="ctr"/>
        <c:lblOffset val="100"/>
        <c:noMultiLvlLbl val="0"/>
      </c:catAx>
      <c:valAx>
        <c:axId val="966069368"/>
        <c:scaling>
          <c:orientation val="minMax"/>
          <c:min val="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crossAx val="966068648"/>
        <c:crosses val="autoZero"/>
        <c:crossBetween val="between"/>
      </c:valAx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NG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D3016-E239-4341-8A12-A455EBDFC0CF}" type="datetimeFigureOut">
              <a:rPr lang="en-NG" smtClean="0"/>
              <a:t>09/12/2025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AA8CE-D0DE-4413-9791-384D19DB15C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27641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AA8CE-D0DE-4413-9791-384D19DB15C8}" type="slidenum">
              <a:rPr lang="en-NG" smtClean="0"/>
              <a:t>1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97950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828BA-365F-DD1A-E2EC-AFBEC9D6E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81EBD6-82BE-0572-2C5E-F3E8A3D43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8CCD6-7AF5-DB0B-FE35-D9A231DE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09/12/2025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65725-302E-753B-33C7-E577132D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15BB9-AF0A-C1AE-47CC-5D28C8163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02662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2E9B-B594-023E-7283-83C92D1DA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7A392-8893-E45D-676B-DB63B40C0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5CCDA-9C37-12E5-AE3A-4D7EE251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09/12/2025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502CF-2F43-55BB-C08C-6D2532FC2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4F0BC-54D6-0752-307B-62CFB4FC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06714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D8DBF-7F88-C12D-6C78-19126F98A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0C54F-2BA9-6BCB-A6EC-75DF52C04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EF3BD-87B9-982B-F81D-663C639A8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09/12/2025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5BDA5-C4B9-FD91-530F-EEB6956F6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8A5B8-E09E-FB6E-3CB7-082ECFA1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58736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2F23-677C-62CE-87D3-8FB8A19C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B5A35-ADFD-E490-4F9A-811C2F639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56BDE-B66B-D43C-E9B6-01A62A200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E1A92-A0E3-5497-B991-A27018E1D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09/12/2025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7F296-5FEA-2EA8-AF8D-9EB24E443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BA799-B071-C6BC-4187-174E5792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3941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DC049-436B-58AB-5925-DC3E3CB4E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16074-2B9F-177E-30ED-280B068A1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909CB-653B-0AAB-D091-A0BBA205F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EB24E-C42A-AE4D-3DBA-F9415B762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12B71-1EC2-5D20-742F-185E28FBF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130691-307A-9AB1-4FE4-5FE2B2937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09/12/2025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62FCFB-7C2A-12E3-FF62-24E800321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FD7F29-4FD3-A8A2-1847-29D26B3D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60303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F5B98-C0F6-9F2A-52FA-CF3D83C4F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4E81A3-5FD4-EA8C-9EF3-DEAA3845F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09/12/2025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18A7F-3B7F-4048-4B9D-7260CAA8C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AAB88-A01D-D5AC-F68D-BC8445252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73950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F5DBB4-EA72-AE2B-230E-03BDABC6D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09/12/2025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9ADBBE-344B-1FD0-8087-147AC701E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3FA34-0B2C-32C9-8A66-F626E731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537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AB3BB-2BD8-FEE0-8AF8-E6A4E9B1C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F5C7B-EA6F-30C3-E04F-4C4E0D5CD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DCC54-A8DF-CA16-BEF3-D3659D830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00FBA-72CB-C867-EF48-BC717B67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09/12/2025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274F3-0829-1177-6049-0E37770C8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EDA19-97F7-6216-DF5F-00082173F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9293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E5B7A-2697-433D-7124-E308AFC55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4BE0F-AE35-95CE-AA7D-2B8D864F9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92CC2-4A50-E829-B2FC-74F69BFE8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37E22-BE8B-BEAE-DFB2-F4F57410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09/12/2025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30D44-A499-F712-DBD6-D0052B2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5B241-2B87-3235-9C01-42BBA9DD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5160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17FC-D7D9-78FA-826C-AF257998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ACA0A-674F-4B76-AD4B-3E78C68E2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E6C0E-FF00-E8B1-D573-397C5DC8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09/12/2025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696E6-498A-EA23-E66E-4A7DF3F91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B3638-771A-14B7-4D4B-C65036996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68629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A82503-F141-984F-2F4D-6974CFB7C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93E30-D864-DFA3-E975-737F55CB0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9DA4F-58D7-EE8C-4A53-B5656C30B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09/12/2025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301FD-1363-9C76-7820-7F0D7858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039AB-5217-BE89-E7C6-8303DBF42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161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  <a:lumOff val="5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FD8F08-6E9E-E8D8-3F26-094BE0C4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DA591-D8FF-2AB6-D309-FFCDF51A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B9F47-47FE-402B-3805-1F6F18A00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11061-3E76-4A77-9284-F16FA906EB28}" type="datetimeFigureOut">
              <a:rPr lang="en-NG" smtClean="0"/>
              <a:t>09/12/2025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6D994-AB4F-EDED-7767-0F580125B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8CADD-E5AF-4BF6-AB62-5F415691B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99BD8F0E-2EDC-4B9F-374A-AAE176753820}"/>
              </a:ext>
            </a:extLst>
          </p:cNvPr>
          <p:cNvSpPr/>
          <p:nvPr userDrawn="1"/>
        </p:nvSpPr>
        <p:spPr>
          <a:xfrm>
            <a:off x="0" y="0"/>
            <a:ext cx="838200" cy="1325563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D9E28018-AE96-24C8-0079-85CA7FA32D2B}"/>
              </a:ext>
            </a:extLst>
          </p:cNvPr>
          <p:cNvSpPr/>
          <p:nvPr userDrawn="1"/>
        </p:nvSpPr>
        <p:spPr>
          <a:xfrm flipV="1">
            <a:off x="15768" y="5514181"/>
            <a:ext cx="838200" cy="1325563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895B5951-31A7-89A7-52A2-2FA456FD66A3}"/>
              </a:ext>
            </a:extLst>
          </p:cNvPr>
          <p:cNvSpPr/>
          <p:nvPr userDrawn="1"/>
        </p:nvSpPr>
        <p:spPr>
          <a:xfrm flipH="1">
            <a:off x="11353800" y="0"/>
            <a:ext cx="838200" cy="1325563"/>
          </a:xfrm>
          <a:prstGeom prst="halfFrame">
            <a:avLst>
              <a:gd name="adj1" fmla="val 35841"/>
              <a:gd name="adj2" fmla="val 333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D42A9859-B4D6-ABC1-CC86-DCF2C7B4C76D}"/>
              </a:ext>
            </a:extLst>
          </p:cNvPr>
          <p:cNvSpPr/>
          <p:nvPr userDrawn="1"/>
        </p:nvSpPr>
        <p:spPr>
          <a:xfrm rot="10800000">
            <a:off x="11338032" y="5514181"/>
            <a:ext cx="838200" cy="1325563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>
              <a:solidFill>
                <a:schemeClr val="tx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559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C95E7-F894-80ED-8C36-0BE221DE50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b="1" dirty="0"/>
              <a:t>MAUVE SUPERMARKET SALES AND CUSTOMER SATISFACTION ANALYSIS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24612-E1D4-8681-0975-820D23916D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PRESENTED BY: VICTORIA ADEMIJUBE</a:t>
            </a:r>
            <a:endParaRPr lang="en-NG" b="1" dirty="0"/>
          </a:p>
        </p:txBody>
      </p:sp>
    </p:spTree>
    <p:extLst>
      <p:ext uri="{BB962C8B-B14F-4D97-AF65-F5344CB8AC3E}">
        <p14:creationId xmlns:p14="http://schemas.microsoft.com/office/powerpoint/2010/main" val="3973047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80E3A-F476-9BA3-91D6-565403A3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55FBC-924E-FFB1-6016-ED0CA7DDA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Bank managers are complaining of understaff and overtime cost.</a:t>
            </a:r>
          </a:p>
          <a:p>
            <a:r>
              <a:rPr lang="en-GB" dirty="0"/>
              <a:t>Uncertainty around whether the Membership Program drives meaningful revenue.</a:t>
            </a:r>
          </a:p>
          <a:p>
            <a:r>
              <a:rPr lang="en-GB" dirty="0"/>
              <a:t>Marketing efforts appear misaligned with actual customer buying patterns.</a:t>
            </a:r>
          </a:p>
          <a:p>
            <a:r>
              <a:rPr lang="en-GB" dirty="0"/>
              <a:t>There is concerns about Customer satisfaction of high-value shoppers.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306956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151C6-6F1E-B5D9-60C8-D7176C257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0A289-E592-0363-2689-EABE973DC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Identify true peak transaction hours for each branch.</a:t>
            </a:r>
          </a:p>
          <a:p>
            <a:r>
              <a:rPr lang="en-GB" dirty="0"/>
              <a:t>Compare spending behaviour between Members and Normal customers.</a:t>
            </a:r>
          </a:p>
          <a:p>
            <a:r>
              <a:rPr lang="en-GB" dirty="0"/>
              <a:t>Analyse buyer demographics for key product categories to improve marketing efficiency.</a:t>
            </a:r>
          </a:p>
          <a:p>
            <a:r>
              <a:rPr lang="en-GB" dirty="0"/>
              <a:t>Explore the link between customer spending and satisfaction levels.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2444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74B39-A0A2-E591-66CE-03764FD3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Dataset Overview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5C4F0-7DFD-456D-7355-6DB1D45CD8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139700" indent="0">
              <a:spcAft>
                <a:spcPts val="600"/>
              </a:spcAft>
              <a:buNone/>
            </a:pPr>
            <a:r>
              <a:rPr lang="en-GB" b="1" dirty="0">
                <a:solidFill>
                  <a:schemeClr val="tx1"/>
                </a:solidFill>
              </a:rPr>
              <a:t>Data Source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Transaction Dataset</a:t>
            </a:r>
          </a:p>
          <a:p>
            <a:pPr>
              <a:spcAft>
                <a:spcPts val="600"/>
              </a:spcAft>
            </a:pPr>
            <a:r>
              <a:rPr lang="en-GB" dirty="0"/>
              <a:t>21</a:t>
            </a:r>
            <a:r>
              <a:rPr lang="en-GB" dirty="0">
                <a:solidFill>
                  <a:schemeClr val="tx1"/>
                </a:solidFill>
              </a:rPr>
              <a:t>000 rows  and 16 columns</a:t>
            </a:r>
          </a:p>
          <a:p>
            <a:pPr>
              <a:spcAft>
                <a:spcPts val="600"/>
              </a:spcAft>
            </a:pP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NG" dirty="0"/>
          </a:p>
          <a:p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907D3-C189-F0D8-E21C-6844F637E7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139700" indent="0">
              <a:spcAft>
                <a:spcPts val="600"/>
              </a:spcAft>
              <a:buNone/>
            </a:pPr>
            <a:r>
              <a:rPr lang="en-GB" b="1" dirty="0">
                <a:solidFill>
                  <a:schemeClr val="tx1"/>
                </a:solidFill>
              </a:rPr>
              <a:t>Data cleaning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No rows with errors 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No duplicates  rows 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No missing values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No data inconsistencies</a:t>
            </a:r>
          </a:p>
        </p:txBody>
      </p:sp>
    </p:spTree>
    <p:extLst>
      <p:ext uri="{BB962C8B-B14F-4D97-AF65-F5344CB8AC3E}">
        <p14:creationId xmlns:p14="http://schemas.microsoft.com/office/powerpoint/2010/main" val="2615196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1E16-DF61-5CB6-9258-B150FBDD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Methodology</a:t>
            </a:r>
            <a:endParaRPr lang="en-NG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BEDBF-A993-E5CB-468E-AFAAC9C374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139700" indent="0">
              <a:spcAft>
                <a:spcPts val="600"/>
              </a:spcAft>
              <a:buNone/>
            </a:pPr>
            <a:r>
              <a:rPr lang="en-GB" b="1" dirty="0">
                <a:solidFill>
                  <a:schemeClr val="tx1"/>
                </a:solidFill>
              </a:rPr>
              <a:t>Tools &amp; Techniques 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 Microsoft Excel (Pivot Tables, Pivot Charts, Slicers).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Data cleaning and transformation in Excel.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 Dashboard layout and visualization best practices.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 Basic descriptive analytics and KPI design.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9F53AB-49A2-9EC6-6E50-8DB5F1151E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Column with high range of values were grouped.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14167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A8A4-642B-E4A6-A75E-B3BF02BAE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Insight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2A80D-4EDA-510B-4785-7306669F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Total sales : 21000</a:t>
            </a:r>
          </a:p>
          <a:p>
            <a:r>
              <a:rPr lang="en-GB" dirty="0"/>
              <a:t>Total quantity sold : </a:t>
            </a:r>
            <a:r>
              <a:rPr lang="en-GB" dirty="0">
                <a:solidFill>
                  <a:schemeClr val="dk1"/>
                </a:solidFill>
              </a:rPr>
              <a:t>115541</a:t>
            </a:r>
            <a:r>
              <a:rPr lang="en-NG" dirty="0"/>
              <a:t> </a:t>
            </a:r>
            <a:endParaRPr lang="en-GB" dirty="0"/>
          </a:p>
          <a:p>
            <a:r>
              <a:rPr lang="en-GB" dirty="0"/>
              <a:t>Total revenue : </a:t>
            </a:r>
            <a:r>
              <a:rPr lang="en-GB" dirty="0">
                <a:solidFill>
                  <a:schemeClr val="dk1"/>
                </a:solidFill>
              </a:rPr>
              <a:t>₦ 635M </a:t>
            </a:r>
          </a:p>
          <a:p>
            <a:r>
              <a:rPr lang="en-GB" dirty="0"/>
              <a:t>Average rating: 7.0 (there is still need for improvement)</a:t>
            </a:r>
          </a:p>
        </p:txBody>
      </p:sp>
    </p:spTree>
    <p:extLst>
      <p:ext uri="{BB962C8B-B14F-4D97-AF65-F5344CB8AC3E}">
        <p14:creationId xmlns:p14="http://schemas.microsoft.com/office/powerpoint/2010/main" val="59241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364E-E5F9-6C1B-F16D-4200C7A09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6702"/>
          </a:xfrm>
        </p:spPr>
        <p:txBody>
          <a:bodyPr/>
          <a:lstStyle/>
          <a:p>
            <a:r>
              <a:rPr lang="en-GB" b="1" dirty="0"/>
              <a:t>Data Insight</a:t>
            </a:r>
            <a:endParaRPr lang="en-NG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3F7A0-C5D1-B87F-3663-DDDA387F7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7376" y="4365171"/>
            <a:ext cx="10766424" cy="2127704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The quantity of goods sold at each hour in the three branches are similar, ranging from 550-640.</a:t>
            </a:r>
          </a:p>
          <a:p>
            <a:r>
              <a:rPr lang="en-GB" dirty="0"/>
              <a:t>Peak activity occurs in the evening, where all cities show a sharp rise in transactions.</a:t>
            </a:r>
          </a:p>
          <a:p>
            <a:r>
              <a:rPr lang="en-GB" dirty="0"/>
              <a:t>Chicago leads in the morning and late evening, while Austin peaks at 17.00. 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FD05F316-DEEA-4963-AE0A-CD9F043C3FE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37099671"/>
              </p:ext>
            </p:extLst>
          </p:nvPr>
        </p:nvGraphicFramePr>
        <p:xfrm>
          <a:off x="1403803" y="1371827"/>
          <a:ext cx="8556625" cy="2797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10141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30ED9-C469-E9AB-38DE-4A6E6AB69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A6B2-408D-8802-340C-E2CF2777A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0904"/>
          </a:xfrm>
        </p:spPr>
        <p:txBody>
          <a:bodyPr/>
          <a:lstStyle/>
          <a:p>
            <a:r>
              <a:rPr lang="en-GB" b="1" dirty="0"/>
              <a:t>Data Insight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BC2C4-C63D-1D21-658F-1D36A7E94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744"/>
            <a:ext cx="4844143" cy="5050970"/>
          </a:xfrm>
        </p:spPr>
        <p:txBody>
          <a:bodyPr/>
          <a:lstStyle/>
          <a:p>
            <a:pPr marL="0" indent="0">
              <a:buNone/>
            </a:pP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2CD0C-D019-50CA-7C4D-08C837584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743" y="1643742"/>
            <a:ext cx="5519057" cy="5050970"/>
          </a:xfrm>
        </p:spPr>
        <p:txBody>
          <a:bodyPr/>
          <a:lstStyle/>
          <a:p>
            <a:r>
              <a:rPr lang="en-GB" dirty="0"/>
              <a:t>Female customers recorded higher sales, though with little difference, in home &amp; life style, fashion accessories and sport and travel.</a:t>
            </a:r>
          </a:p>
          <a:p>
            <a:r>
              <a:rPr lang="en-GB" dirty="0"/>
              <a:t>The males are more active buyers of electronic accessories and food &amp; beverages.</a:t>
            </a:r>
            <a:endParaRPr lang="en-NG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C72BB1C-38B0-09E3-59BE-1EEB10C0D0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4011982"/>
              </p:ext>
            </p:extLst>
          </p:nvPr>
        </p:nvGraphicFramePr>
        <p:xfrm>
          <a:off x="838198" y="1643741"/>
          <a:ext cx="4724401" cy="5050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1848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7E8A-402A-F9F7-C34C-5F948823B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0904"/>
          </a:xfrm>
        </p:spPr>
        <p:txBody>
          <a:bodyPr/>
          <a:lstStyle/>
          <a:p>
            <a:r>
              <a:rPr lang="en-GB" b="1" dirty="0"/>
              <a:t>Data Insight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8201-3FCA-27E3-4BD7-608FF7845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744"/>
            <a:ext cx="5061857" cy="5050970"/>
          </a:xfrm>
        </p:spPr>
        <p:txBody>
          <a:bodyPr/>
          <a:lstStyle/>
          <a:p>
            <a:pPr marL="0" indent="0">
              <a:buNone/>
            </a:pP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42112-1964-3F89-E1EE-6E0288DBA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643742"/>
            <a:ext cx="5257800" cy="5050970"/>
          </a:xfrm>
        </p:spPr>
        <p:txBody>
          <a:bodyPr/>
          <a:lstStyle/>
          <a:p>
            <a:r>
              <a:rPr lang="en-GB" dirty="0"/>
              <a:t>New York branch consistently performs well across categories, especially in Food &amp; Beverages, and Electronic Accessories.</a:t>
            </a:r>
          </a:p>
          <a:p>
            <a:r>
              <a:rPr lang="en-GB" dirty="0"/>
              <a:t>Chicago store excels in Home &amp; Lifestyle and Fashion Accessories.</a:t>
            </a:r>
          </a:p>
          <a:p>
            <a:r>
              <a:rPr lang="en-GB" dirty="0"/>
              <a:t>Austin branch performs best in Sports &amp; Travel.</a:t>
            </a:r>
            <a:endParaRPr lang="en-NG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A2288B8-4FF0-41C7-A07E-F3F8A07884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142769"/>
              </p:ext>
            </p:extLst>
          </p:nvPr>
        </p:nvGraphicFramePr>
        <p:xfrm>
          <a:off x="838200" y="1698169"/>
          <a:ext cx="4985657" cy="4942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0960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7E8D4-E62D-EA8A-4E22-33578067D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 Insight</a:t>
            </a:r>
            <a:endParaRPr lang="en-NG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75ED4-54A5-11E2-3313-0F3B7825C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68686" y="1421112"/>
            <a:ext cx="6085114" cy="528152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Members and Non-members generate almost the same revenue per transaction.</a:t>
            </a:r>
          </a:p>
          <a:p>
            <a:r>
              <a:rPr lang="en-GB" dirty="0"/>
              <a:t>Members buy slightly more quantity</a:t>
            </a:r>
          </a:p>
          <a:p>
            <a:r>
              <a:rPr lang="en-GB" dirty="0"/>
              <a:t>The membership program does not significantly outperform normal customers on transaction value.</a:t>
            </a:r>
          </a:p>
          <a:p>
            <a:r>
              <a:rPr lang="en-GB" dirty="0"/>
              <a:t>There is no significant difference of customer satisfaction among difference level.</a:t>
            </a:r>
          </a:p>
          <a:p>
            <a:r>
              <a:rPr lang="en-GB" dirty="0"/>
              <a:t>Premium customers are not more dissatisfied; they rate the store the same as everyone else</a:t>
            </a:r>
            <a:endParaRPr lang="en-NG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566B2DDF-9074-44BC-81BD-F92324D183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3699552"/>
              </p:ext>
            </p:extLst>
          </p:nvPr>
        </p:nvGraphicFramePr>
        <p:xfrm>
          <a:off x="838200" y="1385491"/>
          <a:ext cx="4245428" cy="254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B2209F1B-4229-4C59-A614-EA9740B18B3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61191733"/>
              </p:ext>
            </p:extLst>
          </p:nvPr>
        </p:nvGraphicFramePr>
        <p:xfrm>
          <a:off x="838200" y="4016829"/>
          <a:ext cx="4244975" cy="2722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71823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48A3D9-3B76-7D9B-FE58-5392BC41D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NG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9E8A51E-95A8-82B0-E0F6-57480E857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Employ more staffs and increase the number at all working hours especially 16:00–19:00 across all branches.</a:t>
            </a:r>
          </a:p>
          <a:p>
            <a:r>
              <a:rPr lang="en-GB" dirty="0"/>
              <a:t>Redesign the loyalty program to reward frequency and drive larger basket sizes.</a:t>
            </a:r>
          </a:p>
          <a:p>
            <a:r>
              <a:rPr lang="en-GB" dirty="0"/>
              <a:t>Launch male-focused campaigns in underperforming segments to balance revenue contribution.</a:t>
            </a:r>
          </a:p>
          <a:p>
            <a:r>
              <a:rPr lang="en-GB" dirty="0"/>
              <a:t>Enhance general service quality to improve customer satisfaction.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551509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C304A-B710-B3B6-6C32-FB659CBD6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61504"/>
          </a:xfrm>
        </p:spPr>
        <p:txBody>
          <a:bodyPr>
            <a:normAutofit/>
          </a:bodyPr>
          <a:lstStyle/>
          <a:p>
            <a:r>
              <a:rPr lang="en-GB" sz="9600" dirty="0"/>
              <a:t>THANK YOU</a:t>
            </a:r>
            <a:endParaRPr lang="en-NG" sz="9600" dirty="0"/>
          </a:p>
        </p:txBody>
      </p:sp>
    </p:spTree>
    <p:extLst>
      <p:ext uri="{BB962C8B-B14F-4D97-AF65-F5344CB8AC3E}">
        <p14:creationId xmlns:p14="http://schemas.microsoft.com/office/powerpoint/2010/main" val="3654684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0A4D0"/>
      </a:accent1>
      <a:accent2>
        <a:srgbClr val="D0A4D0"/>
      </a:accent2>
      <a:accent3>
        <a:srgbClr val="D0A4D0"/>
      </a:accent3>
      <a:accent4>
        <a:srgbClr val="D0A4D0"/>
      </a:accent4>
      <a:accent5>
        <a:srgbClr val="D0A4D0"/>
      </a:accent5>
      <a:accent6>
        <a:srgbClr val="D0A4D0"/>
      </a:accent6>
      <a:hlink>
        <a:srgbClr val="D0A4D0"/>
      </a:hlink>
      <a:folHlink>
        <a:srgbClr val="D0A4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475</Words>
  <Application>Microsoft Office PowerPoint</Application>
  <PresentationFormat>Widescreen</PresentationFormat>
  <Paragraphs>67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MAUVE SUPERMARKET SALES AND CUSTOMER SATISFACTION ANALYSIS</vt:lpstr>
      <vt:lpstr>Problem Statement</vt:lpstr>
      <vt:lpstr>Objectives</vt:lpstr>
      <vt:lpstr>Dataset Overview</vt:lpstr>
      <vt:lpstr>Methodology</vt:lpstr>
      <vt:lpstr>Data Insight</vt:lpstr>
      <vt:lpstr>Data Insight</vt:lpstr>
      <vt:lpstr>Data Insight</vt:lpstr>
      <vt:lpstr>Data Insight</vt:lpstr>
      <vt:lpstr>Data Insight</vt:lpstr>
      <vt:lpstr>Recommendation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Ademijube</dc:creator>
  <cp:lastModifiedBy>Victoria Ademijube</cp:lastModifiedBy>
  <cp:revision>21</cp:revision>
  <dcterms:created xsi:type="dcterms:W3CDTF">2025-11-28T21:31:46Z</dcterms:created>
  <dcterms:modified xsi:type="dcterms:W3CDTF">2025-12-09T21:18:24Z</dcterms:modified>
</cp:coreProperties>
</file>